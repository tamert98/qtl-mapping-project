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DBDF20-C29A-4442-9F82-766132595402}">
  <a:tblStyle styleId="{73DBDF20-C29A-4442-9F82-76613259540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8668fbc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8668fbc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ba198d893_1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2ba198d89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a1ba48d9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a1ba48d9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ba198d893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2ba198d893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ba198d893_3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2ba198d893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ba198d893_3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2ba198d893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ba198d893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2ba198d893_3_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a1ba48d9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a1ba48d9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b5e2ed89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b5e2ed89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a1ba48d9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a1ba48d9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ba198d893_3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2ba198d893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a1ba48d9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2a1ba48d9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b5e2ed89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2b5e2ed8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1F6D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1F6D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032650" y="231925"/>
            <a:ext cx="4572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Comparative Study Of Single Marker Test (SMT) And Single Interval Mapping (SIM) For QTL Detection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4832450" y="2847950"/>
            <a:ext cx="297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By: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Eyas Rizik 208262733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Tamer Talhami 207443862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2" name="Google Shape;10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9675" y="4127700"/>
            <a:ext cx="3064327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134775" y="360150"/>
            <a:ext cx="232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Introduction</a:t>
            </a:r>
            <a:endParaRPr sz="3000"/>
          </a:p>
        </p:txBody>
      </p:sp>
      <p:sp>
        <p:nvSpPr>
          <p:cNvPr id="108" name="Google Shape;108;p26"/>
          <p:cNvSpPr txBox="1"/>
          <p:nvPr>
            <p:ph idx="4294967295" type="body"/>
          </p:nvPr>
        </p:nvSpPr>
        <p:spPr>
          <a:xfrm>
            <a:off x="134775" y="932850"/>
            <a:ext cx="5961000" cy="3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QTL mapping problem:</a:t>
            </a:r>
            <a:endParaRPr b="1" sz="16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Detect genome region (QTL) associated with </a:t>
            </a:r>
            <a:r>
              <a:rPr lang="en" sz="1500">
                <a:solidFill>
                  <a:schemeClr val="dk1"/>
                </a:solidFill>
              </a:rPr>
              <a:t>quantitative</a:t>
            </a:r>
            <a:r>
              <a:rPr lang="en" sz="1500">
                <a:solidFill>
                  <a:schemeClr val="dk1"/>
                </a:solidFill>
              </a:rPr>
              <a:t> trait: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Check if exists (has statistically significant effect).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Estimate effect.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Estimate position on the genome.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 u="sng">
                <a:solidFill>
                  <a:schemeClr val="dk1"/>
                </a:solidFill>
              </a:rPr>
              <a:t>Solution:</a:t>
            </a:r>
            <a:endParaRPr b="1" sz="16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marker-QTL association in parental lines.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backcross design to reduce associations with far markers.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lang="en" sz="1500">
                <a:solidFill>
                  <a:schemeClr val="dk1"/>
                </a:solidFill>
              </a:rPr>
              <a:t>monotony</a:t>
            </a:r>
            <a:r>
              <a:rPr lang="en" sz="1500">
                <a:solidFill>
                  <a:schemeClr val="dk1"/>
                </a:solidFill>
              </a:rPr>
              <a:t> of physical and genetic distance.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Make calculation based on progeny trait values and numbers of corresponding genotypes in marker loci.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Our </a:t>
            </a:r>
            <a:r>
              <a:rPr b="1" lang="en" sz="1600" u="sng">
                <a:solidFill>
                  <a:schemeClr val="dk1"/>
                </a:solidFill>
              </a:rPr>
              <a:t>project</a:t>
            </a:r>
            <a:r>
              <a:rPr b="1" lang="en" sz="1600" u="sng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Creating</a:t>
            </a:r>
            <a:r>
              <a:rPr lang="en" sz="1500">
                <a:solidFill>
                  <a:schemeClr val="dk1"/>
                </a:solidFill>
              </a:rPr>
              <a:t> tool for </a:t>
            </a:r>
            <a:r>
              <a:rPr lang="en" sz="1500">
                <a:solidFill>
                  <a:schemeClr val="dk1"/>
                </a:solidFill>
              </a:rPr>
              <a:t>efficiency</a:t>
            </a:r>
            <a:r>
              <a:rPr lang="en" sz="1500">
                <a:solidFill>
                  <a:schemeClr val="dk1"/>
                </a:solidFill>
              </a:rPr>
              <a:t> comparison of  two methods in QTL mapping.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Cartoon person holding a magnifying glass&#10;&#10;Description automatically generated" id="109" name="Google Shape;109;p26"/>
          <p:cNvPicPr preferRelativeResize="0"/>
          <p:nvPr/>
        </p:nvPicPr>
        <p:blipFill rotWithShape="1">
          <a:blip r:embed="rId3">
            <a:alphaModFix/>
          </a:blip>
          <a:srcRect b="7876" l="17435" r="28649" t="0"/>
          <a:stretch/>
        </p:blipFill>
        <p:spPr>
          <a:xfrm>
            <a:off x="6261350" y="0"/>
            <a:ext cx="28826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/>
        </p:nvSpPr>
        <p:spPr>
          <a:xfrm>
            <a:off x="2976025" y="231925"/>
            <a:ext cx="57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Reduction of associations by recombination 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15" name="Google Shape;1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975" y="0"/>
            <a:ext cx="259516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/>
        </p:nvSpPr>
        <p:spPr>
          <a:xfrm>
            <a:off x="2578525" y="799250"/>
            <a:ext cx="6549000" cy="4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Advantages of Using Backcross Design: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* </a:t>
            </a:r>
            <a:r>
              <a:rPr lang="en" sz="1100">
                <a:solidFill>
                  <a:schemeClr val="dk1"/>
                </a:solidFill>
              </a:rPr>
              <a:t>Backcross design encourages </a:t>
            </a:r>
            <a:r>
              <a:rPr b="1" lang="en" sz="1100">
                <a:solidFill>
                  <a:schemeClr val="dk1"/>
                </a:solidFill>
              </a:rPr>
              <a:t>more recombination</a:t>
            </a:r>
            <a:r>
              <a:rPr lang="en" sz="1100">
                <a:solidFill>
                  <a:schemeClr val="dk1"/>
                </a:solidFill>
              </a:rPr>
              <a:t>, breaking up large inherited regions of DNA, so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 from both parents are shuffled more frequently, which </a:t>
            </a:r>
            <a:r>
              <a:rPr lang="en" sz="1100">
                <a:solidFill>
                  <a:schemeClr val="dk1"/>
                </a:solidFill>
              </a:rPr>
              <a:t>reduces false associations between distant markers and the QTL.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How Associations Are Reduced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500">
                <a:solidFill>
                  <a:schemeClr val="dk1"/>
                </a:solidFill>
              </a:rPr>
              <a:t>*</a:t>
            </a:r>
            <a:r>
              <a:rPr lang="en" sz="1100">
                <a:solidFill>
                  <a:schemeClr val="dk1"/>
                </a:solidFill>
              </a:rPr>
              <a:t> Recombination separates </a:t>
            </a:r>
            <a:r>
              <a:rPr b="1" lang="en" sz="1100">
                <a:solidFill>
                  <a:schemeClr val="dk1"/>
                </a:solidFill>
              </a:rPr>
              <a:t>distant markers</a:t>
            </a:r>
            <a:r>
              <a:rPr lang="en" sz="1100">
                <a:solidFill>
                  <a:schemeClr val="dk1"/>
                </a:solidFill>
              </a:rPr>
              <a:t> from the true QTL over generations.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500">
                <a:solidFill>
                  <a:schemeClr val="dk1"/>
                </a:solidFill>
              </a:rPr>
              <a:t>*</a:t>
            </a:r>
            <a:r>
              <a:rPr lang="en" sz="1100">
                <a:solidFill>
                  <a:schemeClr val="dk1"/>
                </a:solidFill>
              </a:rPr>
              <a:t> As a result, only markers </a:t>
            </a:r>
            <a:r>
              <a:rPr b="1" lang="en" sz="1100">
                <a:solidFill>
                  <a:schemeClr val="dk1"/>
                </a:solidFill>
              </a:rPr>
              <a:t>closely linked</a:t>
            </a:r>
            <a:r>
              <a:rPr lang="en" sz="1100">
                <a:solidFill>
                  <a:schemeClr val="dk1"/>
                </a:solidFill>
              </a:rPr>
              <a:t> to the QTL remain associated, filtering out false positives.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How We Measure Genetic Distance in Markers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* Genetic distance is derived from </a:t>
            </a:r>
            <a:r>
              <a:rPr b="1" lang="en" sz="1100">
                <a:solidFill>
                  <a:schemeClr val="dk1"/>
                </a:solidFill>
              </a:rPr>
              <a:t>recombination frequencies</a:t>
            </a:r>
            <a:r>
              <a:rPr lang="en" sz="1100">
                <a:solidFill>
                  <a:schemeClr val="dk1"/>
                </a:solidFill>
              </a:rPr>
              <a:t> observed in offspring.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* Markers with low recombination frequency (r) are considered </a:t>
            </a:r>
            <a:r>
              <a:rPr b="1" lang="en" sz="1100">
                <a:solidFill>
                  <a:schemeClr val="dk1"/>
                </a:solidFill>
              </a:rPr>
              <a:t>closely linked</a:t>
            </a:r>
            <a:r>
              <a:rPr lang="en" sz="1100">
                <a:solidFill>
                  <a:schemeClr val="dk1"/>
                </a:solidFill>
              </a:rPr>
              <a:t>, while higher </a:t>
            </a:r>
            <a:r>
              <a:rPr lang="en" sz="1100">
                <a:solidFill>
                  <a:schemeClr val="dk1"/>
                </a:solidFill>
              </a:rPr>
              <a:t>(r)</a:t>
            </a:r>
            <a:r>
              <a:rPr lang="en" sz="1100">
                <a:solidFill>
                  <a:schemeClr val="dk1"/>
                </a:solidFill>
              </a:rPr>
              <a:t> indicates greater distance.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We Measure Genetic Distance Between Markers Using Haldane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We calculate genetic distance in                   centiM</a:t>
            </a:r>
            <a:r>
              <a:rPr lang="en" sz="1100">
                <a:solidFill>
                  <a:schemeClr val="dk1"/>
                </a:solidFill>
              </a:rPr>
              <a:t>organs (cM) ,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i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x</a:t>
            </a:r>
            <a:r>
              <a:rPr baseline="-25000" i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genetic distance im m1 ,m2 marker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7" name="Google Shape;11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4000" y="3761302"/>
            <a:ext cx="504825" cy="2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7225" y="4413488"/>
            <a:ext cx="249555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311700" y="28341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Model</a:t>
            </a:r>
            <a:endParaRPr/>
          </a:p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11700" y="1026075"/>
            <a:ext cx="8299200" cy="3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5017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6"/>
              <a:buChar char="●"/>
            </a:pPr>
            <a:r>
              <a:rPr b="1" lang="en" sz="1700">
                <a:solidFill>
                  <a:schemeClr val="dk1"/>
                </a:solidFill>
              </a:rPr>
              <a:t>Two parental organisms</a:t>
            </a:r>
            <a:r>
              <a:rPr lang="en" sz="1700">
                <a:solidFill>
                  <a:schemeClr val="dk1"/>
                </a:solidFill>
              </a:rPr>
              <a:t>: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	</a:t>
            </a:r>
            <a:r>
              <a:rPr b="1" lang="en" sz="1700">
                <a:solidFill>
                  <a:schemeClr val="dk1"/>
                </a:solidFill>
              </a:rPr>
              <a:t>a) P1 </a:t>
            </a:r>
            <a:r>
              <a:rPr lang="en" sz="1700">
                <a:solidFill>
                  <a:schemeClr val="dk1"/>
                </a:solidFill>
              </a:rPr>
              <a:t>(Pure Line - AA): One parent has a fixed genetic background.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	</a:t>
            </a:r>
            <a:r>
              <a:rPr b="1" lang="en" sz="1700">
                <a:solidFill>
                  <a:schemeClr val="dk1"/>
                </a:solidFill>
              </a:rPr>
              <a:t>b) P2 </a:t>
            </a:r>
            <a:r>
              <a:rPr lang="en" sz="1700">
                <a:solidFill>
                  <a:schemeClr val="dk1"/>
                </a:solidFill>
              </a:rPr>
              <a:t>(Hybrid - Aa): The second parent carries a mix of alleles.</a:t>
            </a:r>
            <a:endParaRPr sz="1700">
              <a:solidFill>
                <a:schemeClr val="dk1"/>
              </a:solidFill>
            </a:endParaRPr>
          </a:p>
          <a:p>
            <a:pPr indent="-295017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46"/>
              <a:buChar char="●"/>
            </a:pPr>
            <a:r>
              <a:rPr b="1" lang="en" sz="1700">
                <a:solidFill>
                  <a:schemeClr val="dk1"/>
                </a:solidFill>
              </a:rPr>
              <a:t>Genotypic Structure:</a:t>
            </a:r>
            <a:r>
              <a:rPr lang="en" sz="1700">
                <a:solidFill>
                  <a:schemeClr val="dk1"/>
                </a:solidFill>
              </a:rPr>
              <a:t> Each offspring inherits one allele from each parent, making them either </a:t>
            </a:r>
            <a:r>
              <a:rPr b="1" lang="en" sz="1700">
                <a:solidFill>
                  <a:schemeClr val="dk1"/>
                </a:solidFill>
              </a:rPr>
              <a:t>AA (homozygous)</a:t>
            </a:r>
            <a:r>
              <a:rPr lang="en" sz="1700">
                <a:solidFill>
                  <a:schemeClr val="dk1"/>
                </a:solidFill>
              </a:rPr>
              <a:t> or </a:t>
            </a:r>
            <a:r>
              <a:rPr b="1" lang="en" sz="1700">
                <a:solidFill>
                  <a:schemeClr val="dk1"/>
                </a:solidFill>
              </a:rPr>
              <a:t>Aa (heterozygous)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295017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46"/>
              <a:buChar char="●"/>
            </a:pPr>
            <a:r>
              <a:rPr b="1" lang="en" sz="1700">
                <a:solidFill>
                  <a:schemeClr val="dk1"/>
                </a:solidFill>
              </a:rPr>
              <a:t>Trait Association:</a:t>
            </a:r>
            <a:r>
              <a:rPr lang="en" sz="1700">
                <a:solidFill>
                  <a:schemeClr val="dk1"/>
                </a:solidFill>
              </a:rPr>
              <a:t> The goal is to analyse how these genetic variations relate to </a:t>
            </a:r>
            <a:r>
              <a:rPr b="1" lang="en" sz="1700">
                <a:solidFill>
                  <a:schemeClr val="dk1"/>
                </a:solidFill>
              </a:rPr>
              <a:t>quantitative traits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/>
          </a:p>
          <a:p>
            <a:pPr indent="-295017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46"/>
              <a:buChar char="●"/>
            </a:pPr>
            <a:r>
              <a:rPr lang="en" sz="1700">
                <a:solidFill>
                  <a:schemeClr val="dk1"/>
                </a:solidFill>
              </a:rPr>
              <a:t>Data Processing: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We use </a:t>
            </a:r>
            <a:r>
              <a:rPr b="1" lang="en" sz="1700">
                <a:solidFill>
                  <a:schemeClr val="dk1"/>
                </a:solidFill>
              </a:rPr>
              <a:t>genetic markers</a:t>
            </a:r>
            <a:r>
              <a:rPr lang="en" sz="1700">
                <a:solidFill>
                  <a:schemeClr val="dk1"/>
                </a:solidFill>
              </a:rPr>
              <a:t> across the genome to track inheritance.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The </a:t>
            </a:r>
            <a:r>
              <a:rPr b="1" lang="en" sz="1700">
                <a:solidFill>
                  <a:schemeClr val="dk1"/>
                </a:solidFill>
              </a:rPr>
              <a:t>Haldane mapping function</a:t>
            </a:r>
            <a:r>
              <a:rPr lang="en" sz="1700">
                <a:solidFill>
                  <a:schemeClr val="dk1"/>
                </a:solidFill>
              </a:rPr>
              <a:t> estimates recombination rates.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Methods like </a:t>
            </a:r>
            <a:r>
              <a:rPr b="1" lang="en" sz="1700">
                <a:solidFill>
                  <a:schemeClr val="dk1"/>
                </a:solidFill>
              </a:rPr>
              <a:t>SMT and SIM</a:t>
            </a:r>
            <a:r>
              <a:rPr lang="en" sz="1700">
                <a:solidFill>
                  <a:schemeClr val="dk1"/>
                </a:solidFill>
              </a:rPr>
              <a:t> determine where QTLs are likely located.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type="title"/>
          </p:nvPr>
        </p:nvSpPr>
        <p:spPr>
          <a:xfrm>
            <a:off x="489300" y="353613"/>
            <a:ext cx="316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Comparison Criteria</a:t>
            </a:r>
            <a:endParaRPr/>
          </a:p>
        </p:txBody>
      </p:sp>
      <p:graphicFrame>
        <p:nvGraphicFramePr>
          <p:cNvPr id="130" name="Google Shape;130;p29"/>
          <p:cNvGraphicFramePr/>
          <p:nvPr/>
        </p:nvGraphicFramePr>
        <p:xfrm>
          <a:off x="311712" y="11091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{73DBDF20-C29A-4442-9F82-766132595402}</a:tableStyleId>
              </a:tblPr>
              <a:tblGrid>
                <a:gridCol w="1748300"/>
                <a:gridCol w="3366350"/>
                <a:gridCol w="3405950"/>
              </a:tblGrid>
              <a:tr h="61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Criteria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Single Marker Test (SMT)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Single Interval Mapping (SIM)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1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Approach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Tests markers </a:t>
                      </a:r>
                      <a:r>
                        <a:rPr b="1" lang="en" sz="1400" u="none" cap="none" strike="noStrike"/>
                        <a:t>individually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Analyzes </a:t>
                      </a:r>
                      <a:r>
                        <a:rPr b="1" lang="en" sz="1400" u="none" cap="none" strike="noStrike"/>
                        <a:t>intervals</a:t>
                      </a:r>
                      <a:r>
                        <a:rPr lang="en" sz="1400" u="none" cap="none" strike="noStrike"/>
                        <a:t> between markers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1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Resolution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Lower – may miss QTLs </a:t>
                      </a:r>
                      <a:r>
                        <a:rPr b="1" lang="en" sz="1400" u="none" cap="none" strike="noStrike"/>
                        <a:t>between markers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Higher – detects QTLs within an interval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1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Computational Cost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Fast and simple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More computationally intensive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1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Power &amp; Sensitivity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Lower – may result in </a:t>
                      </a:r>
                      <a:r>
                        <a:rPr b="1" lang="en" sz="1400" u="none" cap="none" strike="noStrike"/>
                        <a:t>false negatives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Higher – uses flanking markers for accuracy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1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False Positives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Higher – requires correction for multiple tests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Lower – likelihood-based approach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543750" y="120675"/>
            <a:ext cx="45489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3000"/>
              <a:t>How SIM Works</a:t>
            </a:r>
            <a:endParaRPr sz="3000"/>
          </a:p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437900" y="734500"/>
            <a:ext cx="85206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Works by analysing intervals between genetic markers instead of treating each marker independently.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7" name="Google Shape;137;p30"/>
          <p:cNvSpPr txBox="1"/>
          <p:nvPr/>
        </p:nvSpPr>
        <p:spPr>
          <a:xfrm>
            <a:off x="0" y="1569700"/>
            <a:ext cx="87549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</a:rPr>
              <a:t>Step 1: Select an Interval:</a:t>
            </a:r>
            <a:endParaRPr sz="1600" u="sng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Instead of testing individual markers, SIM examines a genetic interval between two flanking markers.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</a:rPr>
              <a:t>Step 2: Estimate the Likelihood of a QTL: </a:t>
            </a:r>
            <a:endParaRPr sz="1600" u="sng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 statistical model is used to predict the probability of a QTL existing within the interval.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Maximum Likelihood Estimation (MLE) is applied to calculate LOD scores at different positions.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The likelihood of the data given a QTL is present in the interval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The likelihood of the data given no QTL is present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8" name="Google Shape;1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550" y="3835325"/>
            <a:ext cx="2535800" cy="4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/>
        </p:nvSpPr>
        <p:spPr>
          <a:xfrm>
            <a:off x="393000" y="347950"/>
            <a:ext cx="83580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Step 3: </a:t>
            </a:r>
            <a:r>
              <a:rPr lang="en" sz="1500" u="sng">
                <a:solidFill>
                  <a:schemeClr val="dk1"/>
                </a:solidFill>
              </a:rPr>
              <a:t>LOD Score Analysis: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The </a:t>
            </a:r>
            <a:r>
              <a:rPr b="1" lang="en" sz="1500">
                <a:solidFill>
                  <a:schemeClr val="dk1"/>
                </a:solidFill>
              </a:rPr>
              <a:t>LOD score</a:t>
            </a:r>
            <a:r>
              <a:rPr lang="en" sz="1500">
                <a:solidFill>
                  <a:schemeClr val="dk1"/>
                </a:solidFill>
              </a:rPr>
              <a:t> measures how strong the evidence is for a QTL in the tested region.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Higher LOD scores indicate a higher likelihood of a true QTL.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Step 4: </a:t>
            </a:r>
            <a:r>
              <a:rPr lang="en" sz="1500" u="sng">
                <a:solidFill>
                  <a:schemeClr val="dk1"/>
                </a:solidFill>
              </a:rPr>
              <a:t>Significance Testing: 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Permutation tests are used to determine whether the detected QTL is statistically significant.This test gives a threshold If the actual LOD score from the data exceeds this threshold, the QTL is considered statistically significant and unlikely to have appeared by random chance.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Step 5: QTL Position &amp; Effect Estimation: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If a </a:t>
            </a:r>
            <a:r>
              <a:rPr b="1" lang="en" sz="1500">
                <a:solidFill>
                  <a:schemeClr val="dk1"/>
                </a:solidFill>
              </a:rPr>
              <a:t>peak LOD score</a:t>
            </a:r>
            <a:r>
              <a:rPr lang="en" sz="1500">
                <a:solidFill>
                  <a:schemeClr val="dk1"/>
                </a:solidFill>
              </a:rPr>
              <a:t> surpasses a threshold, a QTL is considered detected.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The </a:t>
            </a:r>
            <a:r>
              <a:rPr b="1" lang="en" sz="1500">
                <a:solidFill>
                  <a:schemeClr val="dk1"/>
                </a:solidFill>
              </a:rPr>
              <a:t>location and effect</a:t>
            </a:r>
            <a:r>
              <a:rPr lang="en" sz="1500">
                <a:solidFill>
                  <a:schemeClr val="dk1"/>
                </a:solidFill>
              </a:rPr>
              <a:t> of the QTL on the trait are recorded.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60" y="3494825"/>
            <a:ext cx="2640988" cy="14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650" y="3494825"/>
            <a:ext cx="2784700" cy="14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5763" y="3494825"/>
            <a:ext cx="2640975" cy="14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318650"/>
            <a:ext cx="307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SMT Works</a:t>
            </a:r>
            <a:endParaRPr sz="3000"/>
          </a:p>
        </p:txBody>
      </p:sp>
      <p:sp>
        <p:nvSpPr>
          <p:cNvPr id="152" name="Google Shape;152;p32"/>
          <p:cNvSpPr txBox="1"/>
          <p:nvPr/>
        </p:nvSpPr>
        <p:spPr>
          <a:xfrm>
            <a:off x="311700" y="984213"/>
            <a:ext cx="7928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</a:t>
            </a:r>
            <a:r>
              <a:rPr b="1" lang="en">
                <a:solidFill>
                  <a:schemeClr val="dk1"/>
                </a:solidFill>
              </a:rPr>
              <a:t>SMT</a:t>
            </a:r>
            <a:r>
              <a:rPr lang="en">
                <a:solidFill>
                  <a:schemeClr val="dk1"/>
                </a:solidFill>
              </a:rPr>
              <a:t>, each genetic marker is tested separately and t</a:t>
            </a:r>
            <a:r>
              <a:rPr lang="en">
                <a:solidFill>
                  <a:schemeClr val="dk1"/>
                </a:solidFill>
              </a:rPr>
              <a:t>he </a:t>
            </a:r>
            <a:r>
              <a:rPr b="1" lang="en">
                <a:solidFill>
                  <a:schemeClr val="dk1"/>
                </a:solidFill>
              </a:rPr>
              <a:t>purpose</a:t>
            </a:r>
            <a:r>
              <a:rPr lang="en">
                <a:solidFill>
                  <a:schemeClr val="dk1"/>
                </a:solidFill>
              </a:rPr>
              <a:t> of SMT is to test whether there is a statistical relationship between a single genetic marker and a quantitative trait.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this purpose, we perform as a </a:t>
            </a:r>
            <a:r>
              <a:rPr b="1" lang="en" u="sng">
                <a:solidFill>
                  <a:schemeClr val="dk1"/>
                </a:solidFill>
              </a:rPr>
              <a:t>first</a:t>
            </a:r>
            <a:r>
              <a:rPr lang="en" u="sng">
                <a:solidFill>
                  <a:schemeClr val="dk1"/>
                </a:solidFill>
              </a:rPr>
              <a:t> step - </a:t>
            </a:r>
            <a:r>
              <a:rPr b="1" lang="en" u="sng">
                <a:solidFill>
                  <a:schemeClr val="dk1"/>
                </a:solidFill>
              </a:rPr>
              <a:t>linear regression</a:t>
            </a:r>
            <a:r>
              <a:rPr lang="en">
                <a:solidFill>
                  <a:schemeClr val="dk1"/>
                </a:solidFill>
              </a:rPr>
              <a:t> to check whether the marker affects the trait.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central equation in SMT is a </a:t>
            </a:r>
            <a:r>
              <a:rPr b="1" lang="en">
                <a:solidFill>
                  <a:schemeClr val="dk1"/>
                </a:solidFill>
              </a:rPr>
              <a:t>linear regression</a:t>
            </a:r>
            <a:r>
              <a:rPr lang="en">
                <a:solidFill>
                  <a:schemeClr val="dk1"/>
                </a:solidFill>
              </a:rPr>
              <a:t> model: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3" name="Google Shape;15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250" y="2770299"/>
            <a:ext cx="3383503" cy="6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2"/>
          <p:cNvSpPr txBox="1"/>
          <p:nvPr/>
        </p:nvSpPr>
        <p:spPr>
          <a:xfrm>
            <a:off x="311700" y="3545775"/>
            <a:ext cx="78441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Ti​: Trait value for individual i.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Average of the trait in the population.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β: coefficient that represents how strong is the effect of the genetic marker on the trait.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: Genotype of individual i at marker m. (Gim= 0,1,2 -&gt; aa,Aa,AA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Respectively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ϵi​: Residual error, assumed ϵi∼N(0,σ2).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825" y="4382075"/>
            <a:ext cx="321850" cy="2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/>
        </p:nvSpPr>
        <p:spPr>
          <a:xfrm>
            <a:off x="562775" y="711800"/>
            <a:ext cx="17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(β) Calculation 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525" y="1503125"/>
            <a:ext cx="31432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4379950" y="1336438"/>
            <a:ext cx="4479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The genotype of individual i.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The average of the genotypes at the marker m.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The value of the trait of individual i.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average of the trait in the population.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3"/>
          <p:cNvSpPr txBox="1"/>
          <p:nvPr/>
        </p:nvSpPr>
        <p:spPr>
          <a:xfrm>
            <a:off x="562775" y="2738500"/>
            <a:ext cx="8018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Second</a:t>
            </a:r>
            <a:r>
              <a:rPr lang="en" u="sng">
                <a:solidFill>
                  <a:schemeClr val="dk1"/>
                </a:solidFill>
              </a:rPr>
              <a:t> step - Statistical hypotheses: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test whether the marker really affects the trait, we define two hypotheses: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Null hypothesis (H₀):</a:t>
            </a:r>
            <a:r>
              <a:rPr lang="en">
                <a:solidFill>
                  <a:schemeClr val="dk1"/>
                </a:solidFill>
              </a:rPr>
              <a:t> There is no relationship between the marker and the trait → β=0 (So the marker does not affect the trait).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Alternative hypothesis (H₁):</a:t>
            </a:r>
            <a:r>
              <a:rPr lang="en">
                <a:solidFill>
                  <a:schemeClr val="dk1"/>
                </a:solidFill>
              </a:rPr>
              <a:t> There is a relationship → β≠0 (So there is an </a:t>
            </a:r>
            <a:r>
              <a:rPr lang="en">
                <a:solidFill>
                  <a:schemeClr val="dk1"/>
                </a:solidFill>
              </a:rPr>
              <a:t>effect</a:t>
            </a:r>
            <a:r>
              <a:rPr lang="en">
                <a:solidFill>
                  <a:schemeClr val="dk1"/>
                </a:solidFill>
              </a:rPr>
              <a:t> of the marker on the trait).</a:t>
            </a:r>
            <a:endParaRPr/>
          </a:p>
        </p:txBody>
      </p:sp>
      <p:pic>
        <p:nvPicPr>
          <p:cNvPr id="164" name="Google Shape;16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975" y="1336425"/>
            <a:ext cx="4000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0213" y="1631713"/>
            <a:ext cx="4095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5950" y="21668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1175" y="1909675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271875"/>
            <a:ext cx="435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Data Do We Use?</a:t>
            </a:r>
            <a:endParaRPr sz="3000"/>
          </a:p>
        </p:txBody>
      </p:sp>
      <p:sp>
        <p:nvSpPr>
          <p:cNvPr id="173" name="Google Shape;173;p34"/>
          <p:cNvSpPr txBox="1"/>
          <p:nvPr/>
        </p:nvSpPr>
        <p:spPr>
          <a:xfrm>
            <a:off x="530775" y="1017725"/>
            <a:ext cx="60960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🧬 Genotypic Data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Extracted from </a:t>
            </a:r>
            <a:r>
              <a:rPr b="1" lang="en">
                <a:solidFill>
                  <a:schemeClr val="dk1"/>
                </a:solidFill>
              </a:rPr>
              <a:t>VCF files</a:t>
            </a:r>
            <a:r>
              <a:rPr lang="en">
                <a:solidFill>
                  <a:schemeClr val="dk1"/>
                </a:solidFill>
              </a:rPr>
              <a:t> (genetic marker positions &amp; variants).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📊 Phenotypic Data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Single quantitative trait</a:t>
            </a:r>
            <a:r>
              <a:rPr lang="en">
                <a:solidFill>
                  <a:schemeClr val="dk1"/>
                </a:solidFill>
              </a:rPr>
              <a:t> measured for each individual.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🖥️ Simulated Data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Generated in R/qtl</a:t>
            </a:r>
            <a:r>
              <a:rPr lang="en">
                <a:solidFill>
                  <a:schemeClr val="dk1"/>
                </a:solidFill>
              </a:rPr>
              <a:t> to test different QTL mapping conditions.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Why This Data?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Helps us </a:t>
            </a:r>
            <a:r>
              <a:rPr b="1" lang="en">
                <a:solidFill>
                  <a:schemeClr val="dk1"/>
                </a:solidFill>
              </a:rPr>
              <a:t>identify QTL positions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Enables </a:t>
            </a:r>
            <a:r>
              <a:rPr b="1" lang="en">
                <a:solidFill>
                  <a:schemeClr val="dk1"/>
                </a:solidFill>
              </a:rPr>
              <a:t>comparison of SMT &amp; SIM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Balances </a:t>
            </a:r>
            <a:r>
              <a:rPr b="1" lang="en">
                <a:solidFill>
                  <a:schemeClr val="dk1"/>
                </a:solidFill>
              </a:rPr>
              <a:t>real &amp; simulated data</a:t>
            </a:r>
            <a:r>
              <a:rPr lang="en">
                <a:solidFill>
                  <a:schemeClr val="dk1"/>
                </a:solidFill>
              </a:rPr>
              <a:t> for accurate analysis.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0225" y="844575"/>
            <a:ext cx="35233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4"/>
          <p:cNvPicPr preferRelativeResize="0"/>
          <p:nvPr/>
        </p:nvPicPr>
        <p:blipFill rotWithShape="1">
          <a:blip r:embed="rId4">
            <a:alphaModFix/>
          </a:blip>
          <a:srcRect b="0" l="0" r="33770" t="0"/>
          <a:stretch/>
        </p:blipFill>
        <p:spPr>
          <a:xfrm>
            <a:off x="6338350" y="1993688"/>
            <a:ext cx="1727075" cy="8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7400" y="3558813"/>
            <a:ext cx="322897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445025"/>
            <a:ext cx="340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Research Process</a:t>
            </a:r>
            <a:endParaRPr sz="3000"/>
          </a:p>
        </p:txBody>
      </p:sp>
      <p:sp>
        <p:nvSpPr>
          <p:cNvPr id="182" name="Google Shape;182;p35"/>
          <p:cNvSpPr/>
          <p:nvPr/>
        </p:nvSpPr>
        <p:spPr>
          <a:xfrm>
            <a:off x="1199050" y="1672450"/>
            <a:ext cx="1080000" cy="753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5"/>
          <p:cNvSpPr txBox="1"/>
          <p:nvPr/>
        </p:nvSpPr>
        <p:spPr>
          <a:xfrm>
            <a:off x="103830" y="2754616"/>
            <a:ext cx="3408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1: Data Preparation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5"/>
          <p:cNvSpPr txBox="1"/>
          <p:nvPr/>
        </p:nvSpPr>
        <p:spPr>
          <a:xfrm>
            <a:off x="582625" y="3660475"/>
            <a:ext cx="245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Data:</a:t>
            </a: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and preprocess </a:t>
            </a:r>
            <a:r>
              <a:rPr b="1" i="0" lang="en" u="none" cap="none" strike="noStrike">
                <a:solidFill>
                  <a:srgbClr val="000000"/>
                </a:solidFill>
              </a:rPr>
              <a:t>genetic marker and trait data</a:t>
            </a: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files</a:t>
            </a: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5" name="Google Shape;185;p35"/>
          <p:cNvSpPr/>
          <p:nvPr/>
        </p:nvSpPr>
        <p:spPr>
          <a:xfrm>
            <a:off x="4397400" y="1672450"/>
            <a:ext cx="741600" cy="753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5"/>
          <p:cNvSpPr txBox="1"/>
          <p:nvPr/>
        </p:nvSpPr>
        <p:spPr>
          <a:xfrm>
            <a:off x="3499639" y="2719736"/>
            <a:ext cx="25371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en" sz="1600"/>
              <a:t>2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QTL Detection with SMT &amp; SIM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5"/>
          <p:cNvSpPr txBox="1"/>
          <p:nvPr/>
        </p:nvSpPr>
        <p:spPr>
          <a:xfrm>
            <a:off x="3572700" y="3568075"/>
            <a:ext cx="239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Identify QTLs positions using </a:t>
            </a:r>
            <a:r>
              <a:rPr b="1" lang="en">
                <a:solidFill>
                  <a:schemeClr val="dk1"/>
                </a:solidFill>
              </a:rPr>
              <a:t>SMT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SIM </a:t>
            </a:r>
            <a:r>
              <a:rPr lang="en">
                <a:solidFill>
                  <a:schemeClr val="dk1"/>
                </a:solidFill>
              </a:rPr>
              <a:t>methods.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35"/>
          <p:cNvSpPr/>
          <p:nvPr/>
        </p:nvSpPr>
        <p:spPr>
          <a:xfrm>
            <a:off x="7327632" y="1605103"/>
            <a:ext cx="888000" cy="888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5"/>
          <p:cNvSpPr txBox="1"/>
          <p:nvPr/>
        </p:nvSpPr>
        <p:spPr>
          <a:xfrm>
            <a:off x="6503077" y="2719736"/>
            <a:ext cx="25371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en" sz="1600"/>
              <a:t>3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Visualization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5"/>
          <p:cNvSpPr txBox="1"/>
          <p:nvPr/>
        </p:nvSpPr>
        <p:spPr>
          <a:xfrm>
            <a:off x="6731673" y="3724375"/>
            <a:ext cx="20799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</a:t>
            </a:r>
            <a:r>
              <a:rPr b="1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Manhattan plots</a:t>
            </a: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visualize marker associations.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280750"/>
            <a:ext cx="30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Evaluation Plan</a:t>
            </a:r>
            <a:endParaRPr sz="3000"/>
          </a:p>
        </p:txBody>
      </p:sp>
      <p:sp>
        <p:nvSpPr>
          <p:cNvPr id="196" name="Google Shape;196;p36"/>
          <p:cNvSpPr txBox="1"/>
          <p:nvPr/>
        </p:nvSpPr>
        <p:spPr>
          <a:xfrm>
            <a:off x="311700" y="1017725"/>
            <a:ext cx="6504600" cy="3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🔹 How We Evaluate Our Methods?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Key Metrics: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Accuracy – How well detected QTLs match known positions.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Statistical Power – Detecting real QTLs &amp; avoiding false negatives.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False Discovery Rate (FDR) – Checking false positives.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Testing Datasets: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Simulated Data – </a:t>
            </a:r>
            <a:r>
              <a:rPr lang="en">
                <a:solidFill>
                  <a:schemeClr val="dk1"/>
                </a:solidFill>
              </a:rPr>
              <a:t>Varying conditions (marker density, noise).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Real Data – Preprocessed VCF files for validation.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lang="en">
                <a:solidFill>
                  <a:schemeClr val="dk1"/>
                </a:solidFill>
              </a:rPr>
              <a:t>Methodology: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Apply SMT &amp; SIM, analyze performance.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Graphs &amp; tables summarize QTL positions &amp; significance.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7" name="Google Shape;1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4700" y="662488"/>
            <a:ext cx="2277600" cy="38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7"/>
          <p:cNvPicPr preferRelativeResize="0"/>
          <p:nvPr/>
        </p:nvPicPr>
        <p:blipFill rotWithShape="1">
          <a:blip r:embed="rId3">
            <a:alphaModFix/>
          </a:blip>
          <a:srcRect b="22299" l="15316" r="17447" t="25464"/>
          <a:stretch/>
        </p:blipFill>
        <p:spPr>
          <a:xfrm>
            <a:off x="0" y="0"/>
            <a:ext cx="24141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7"/>
          <p:cNvSpPr txBox="1"/>
          <p:nvPr/>
        </p:nvSpPr>
        <p:spPr>
          <a:xfrm>
            <a:off x="2729725" y="1863750"/>
            <a:ext cx="6133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This study provides insights into selecting QTL mapping methods based on dataset characteristics. SIM is recommended for high-precision studies, while SMT is useful for preliminary analyses. These findings contribute to improve genetic mapping techniques in biological and agricultural researches.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4" name="Google Shape;204;p37"/>
          <p:cNvSpPr txBox="1"/>
          <p:nvPr/>
        </p:nvSpPr>
        <p:spPr>
          <a:xfrm>
            <a:off x="4273825" y="689325"/>
            <a:ext cx="304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CONCLUSION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05" name="Google Shape;205;p37"/>
          <p:cNvSpPr txBox="1"/>
          <p:nvPr/>
        </p:nvSpPr>
        <p:spPr>
          <a:xfrm>
            <a:off x="7275925" y="4366850"/>
            <a:ext cx="15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Thank You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